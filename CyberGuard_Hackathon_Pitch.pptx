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34D399"/>
                </a:solidFill>
                <a:latin typeface="Arial"/>
              </a:rPr>
              <a:t>CyberGuard - AI Phishing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TEAM: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2E8F0"/>
                </a:solidFill>
              </a:defRPr>
            </a:pPr>
            <a:r>
              <a:t>We are a team of cybersecurity enthusiasts bridging AI and web 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7171"/>
                </a:solidFill>
              </a:defRPr>
            </a:pPr>
            <a:r>
              <a:t>THE PROBLEM: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2E8F0"/>
                </a:solidFill>
              </a:defRPr>
            </a:pPr>
          </a:p>
          <a:p>
            <a:pPr>
              <a:spcBef>
                <a:spcPts val="1000"/>
              </a:spcBef>
              <a:defRPr sz="2200">
                <a:solidFill>
                  <a:srgbClr val="E2E8F0"/>
                </a:solidFill>
              </a:defRPr>
            </a:pPr>
            <a:r>
              <a:t>• Phishing attacks account for 90% of all data breaches.</a:t>
            </a:r>
          </a:p>
          <a:p>
            <a:pPr>
              <a:spcBef>
                <a:spcPts val="1000"/>
              </a:spcBef>
              <a:defRPr sz="2200">
                <a:solidFill>
                  <a:srgbClr val="E2E8F0"/>
                </a:solidFill>
              </a:defRPr>
            </a:pPr>
            <a:r>
              <a:t>• Traditional blacklist scanners (like VirusTotal) fail against zero-day phishing URLs.</a:t>
            </a:r>
          </a:p>
          <a:p>
            <a:pPr>
              <a:spcBef>
                <a:spcPts val="1000"/>
              </a:spcBef>
              <a:defRPr sz="2200">
                <a:solidFill>
                  <a:srgbClr val="E2E8F0"/>
                </a:solidFill>
              </a:defRPr>
            </a:pPr>
            <a:r>
              <a:t>• Attackers use advanced evasion (typosquatting, obfuscation, URL shorteners).</a:t>
            </a:r>
          </a:p>
          <a:p>
            <a:pPr>
              <a:spcBef>
                <a:spcPts val="1000"/>
              </a:spcBef>
              <a:defRPr sz="2200">
                <a:solidFill>
                  <a:srgbClr val="E2E8F0"/>
                </a:solidFill>
              </a:defRPr>
            </a:pPr>
            <a:r>
              <a:t>• Everyday users have no real-time, explainable way to verify a suspicious link.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34D399"/>
                </a:solidFill>
                <a:latin typeface="Arial"/>
              </a:rPr>
              <a:t>The Solution: CyberGuard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real-time, Machine Learning-powered URL Analysis Engine.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2E8F0"/>
                </a:solidFill>
              </a:defRPr>
            </a:pPr>
          </a:p>
          <a:p>
            <a:pPr>
              <a:spcBef>
                <a:spcPts val="1400"/>
              </a:spcBef>
              <a:defRPr sz="2200">
                <a:solidFill>
                  <a:srgbClr val="34D399"/>
                </a:solidFill>
              </a:defRPr>
            </a:pPr>
            <a:r>
              <a:t>✓ Predictive AI: Trained on thousands of verified phishing and legitimate URLs.</a:t>
            </a:r>
          </a:p>
          <a:p>
            <a:pPr>
              <a:spcBef>
                <a:spcPts val="1400"/>
              </a:spcBef>
              <a:defRPr sz="2200">
                <a:solidFill>
                  <a:srgbClr val="34D399"/>
                </a:solidFill>
              </a:defRPr>
            </a:pPr>
            <a:r>
              <a:t>✓ Contextual Intelligence: Extracts deep structural features (entropy, typosquatting).</a:t>
            </a:r>
          </a:p>
          <a:p>
            <a:pPr>
              <a:spcBef>
                <a:spcPts val="1400"/>
              </a:spcBef>
              <a:defRPr sz="2200">
                <a:solidFill>
                  <a:srgbClr val="34D399"/>
                </a:solidFill>
              </a:defRPr>
            </a:pPr>
            <a:r>
              <a:t>✓ Instant Verdict: Processes and scores URLs in milliseconds via FastAPI.</a:t>
            </a:r>
          </a:p>
          <a:p>
            <a:pPr>
              <a:spcBef>
                <a:spcPts val="1400"/>
              </a:spcBef>
              <a:defRPr sz="2200">
                <a:solidFill>
                  <a:srgbClr val="34D399"/>
                </a:solidFill>
              </a:defRPr>
            </a:pPr>
            <a:r>
              <a:t>✓ Beautiful UI: A sleek Next.js dashboard providing actionable explanations to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34D399"/>
                </a:solidFill>
                <a:latin typeface="Arial"/>
              </a:rPr>
              <a:t>How We Built It (Tech Stack)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2E8F0"/>
                </a:solidFill>
              </a:defRPr>
            </a:pPr>
          </a:p>
          <a:p>
            <a:pPr>
              <a:spcBef>
                <a:spcPts val="1400"/>
              </a:spcBef>
              <a:defRPr sz="2200">
                <a:solidFill>
                  <a:srgbClr val="E2E8F0"/>
                </a:solidFill>
              </a:defRPr>
            </a:pPr>
            <a:r>
              <a:t>• Frontend: Next.js, React, TailwindCSS, Lucide Icons</a:t>
            </a:r>
          </a:p>
          <a:p>
            <a:pPr>
              <a:spcBef>
                <a:spcPts val="1400"/>
              </a:spcBef>
              <a:defRPr sz="2200">
                <a:solidFill>
                  <a:srgbClr val="E2E8F0"/>
                </a:solidFill>
              </a:defRPr>
            </a:pPr>
            <a:r>
              <a:t>• Backend API: FastAPI (Python), Uvicorn</a:t>
            </a:r>
          </a:p>
          <a:p>
            <a:pPr>
              <a:spcBef>
                <a:spcPts val="1400"/>
              </a:spcBef>
              <a:defRPr sz="2200">
                <a:solidFill>
                  <a:srgbClr val="E2E8F0"/>
                </a:solidFill>
              </a:defRPr>
            </a:pPr>
            <a:r>
              <a:t>• AI/ML Engine: Scikit-Learn (Logistic Regression / SVM)</a:t>
            </a:r>
          </a:p>
          <a:p>
            <a:pPr>
              <a:spcBef>
                <a:spcPts val="1400"/>
              </a:spcBef>
              <a:defRPr sz="2200">
                <a:solidFill>
                  <a:srgbClr val="E2E8F0"/>
                </a:solidFill>
              </a:defRPr>
            </a:pPr>
            <a:r>
              <a:t>• Data Pipeline: Pandas, TF-IDF Vectorization, Custom Feature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34D399"/>
                </a:solidFill>
                <a:latin typeface="Arial"/>
              </a:rPr>
              <a:t>Why CyberGuard Wins (Key Differentiators)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2E8F0"/>
                </a:solidFill>
              </a:defRPr>
            </a:pPr>
          </a:p>
          <a:p>
            <a:pPr>
              <a:spcBef>
                <a:spcPts val="1400"/>
              </a:spcBef>
              <a:defRPr sz="2200">
                <a:solidFill>
                  <a:srgbClr val="E2E8F0"/>
                </a:solidFill>
              </a:defRPr>
            </a:pPr>
            <a:r>
              <a:t>🚀 Not Just a Blacklist: We catch brand new phishing links based on structural behavior.</a:t>
            </a:r>
          </a:p>
          <a:p>
            <a:pPr>
              <a:spcBef>
                <a:spcPts val="1400"/>
              </a:spcBef>
              <a:defRPr sz="2200">
                <a:solidFill>
                  <a:srgbClr val="E2E8F0"/>
                </a:solidFill>
              </a:defRPr>
            </a:pPr>
            <a:r>
              <a:t>🚀 Privacy First: We don't track the user's browsing history.</a:t>
            </a:r>
          </a:p>
          <a:p>
            <a:pPr>
              <a:spcBef>
                <a:spcPts val="1400"/>
              </a:spcBef>
              <a:defRPr sz="2200">
                <a:solidFill>
                  <a:srgbClr val="E2E8F0"/>
                </a:solidFill>
              </a:defRPr>
            </a:pPr>
            <a:r>
              <a:t>🚀 Explainable AI: Instead of just saying 'Dangerous', we tell the user WHY (e.g. 'Brand Impersonation Detected').</a:t>
            </a:r>
          </a:p>
          <a:p>
            <a:pPr>
              <a:spcBef>
                <a:spcPts val="1400"/>
              </a:spcBef>
              <a:defRPr sz="2200">
                <a:solidFill>
                  <a:srgbClr val="E2E8F0"/>
                </a:solidFill>
              </a:defRPr>
            </a:pPr>
            <a:r>
              <a:t>🚀 Developer Friendly: Exposes a clean REST API for integration into email clients and browsers.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34D399"/>
                </a:solidFill>
                <a:latin typeface="Arial"/>
              </a:rPr>
              <a:t>Impact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0A5FA"/>
                </a:solidFill>
              </a:defRPr>
            </a:pPr>
            <a:r>
              <a:t>MARKET POTENTIAL: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2E8F0"/>
                </a:solidFill>
              </a:defRPr>
            </a:pPr>
            <a:r>
              <a:t>B2B integration for enterprise email filters and B2C browser extensions.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0A5FA"/>
                </a:solidFill>
              </a:defRPr>
            </a:pPr>
            <a:r>
              <a:t>ROADMAP (NEXT 6 MONTHS):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2E8F0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E2E8F0"/>
                </a:solidFill>
              </a:defRPr>
            </a:pPr>
            <a:r>
              <a:t>• Phase 1: Deep learning models (Neural Networks) for higher accuracy.</a:t>
            </a:r>
          </a:p>
          <a:p>
            <a:pPr>
              <a:spcBef>
                <a:spcPts val="1000"/>
              </a:spcBef>
              <a:defRPr sz="2000">
                <a:solidFill>
                  <a:srgbClr val="E2E8F0"/>
                </a:solidFill>
              </a:defRPr>
            </a:pPr>
            <a:r>
              <a:t>• Phase 2: Chrome/Firefox Extension for real-time browser protection.</a:t>
            </a:r>
          </a:p>
          <a:p>
            <a:pPr>
              <a:spcBef>
                <a:spcPts val="1000"/>
              </a:spcBef>
              <a:defRPr sz="2000">
                <a:solidFill>
                  <a:srgbClr val="E2E8F0"/>
                </a:solidFill>
              </a:defRPr>
            </a:pPr>
            <a:r>
              <a:t>• Phase 3: Integration with global Threat Intelligence feeds (VirusTotal, URLhaus).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